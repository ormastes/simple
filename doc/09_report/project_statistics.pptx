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simpleos-default-theme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Title"/>
          <p:cNvSpPr/>
          <p:nvPr/>
        </p:nvSpPr>
        <p:spPr>
          <a:xfrm>
            <a:off x="571500" y="1809750"/>
            <a:ext cx="8001000" cy="1524000"/>
          </a:xfrm>
          <a:prstGeom prst="rect">
            <a:avLst/>
          </a:prstGeom>
        </p:spPr>
        <p:txBody>
          <a:bodyPr/>
          <a:lstStyle/>
          <a:p>
            <a:r>
              <a:rPr sz="4400"/>
              <a:t>Project Statistics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71500" y="571500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t>Portfolio</a:t>
            </a:r>
          </a:p>
        </p:txBody>
      </p:sp>
      <p:sp>
        <p:nvSpPr>
          <p:cNvPr id="3" name="bullet0_1"/>
          <p:cNvSpPr/>
          <p:nvPr/>
        </p:nvSpPr>
        <p:spPr>
          <a:xfrm>
            <a:off x="571500" y="209550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**41,544** owned source/test files</a:t>
            </a:r>
          </a:p>
        </p:txBody>
      </p:sp>
      <p:sp>
        <p:nvSpPr>
          <p:cNvPr id="4" name="bullet0_2"/>
          <p:cNvSpPr/>
          <p:nvPr/>
        </p:nvSpPr>
        <p:spPr>
          <a:xfrm>
            <a:off x="571500" y="295275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**7,307,459** owned source/test SLOC</a:t>
            </a:r>
          </a:p>
        </p:txBody>
      </p:sp>
      <p:sp>
        <p:nvSpPr>
          <p:cNvPr id="5" name="bullet0_3"/>
          <p:cNvSpPr/>
          <p:nvPr/>
        </p:nvSpPr>
        <p:spPr>
          <a:xfrm>
            <a:off x="571500" y="381000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**4,767,640** source SLOC</a:t>
            </a:r>
          </a:p>
        </p:txBody>
      </p:sp>
      <p:sp>
        <p:nvSpPr>
          <p:cNvPr id="6" name="bullet0_4"/>
          <p:cNvSpPr/>
          <p:nvPr/>
        </p:nvSpPr>
        <p:spPr>
          <a:xfrm>
            <a:off x="571500" y="466725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**2,539,819** project test SLOC</a:t>
            </a:r>
          </a:p>
        </p:txBody>
      </p:sp>
      <p:sp>
        <p:nvSpPr>
          <p:cNvPr id="7" name="bullet0_5"/>
          <p:cNvSpPr/>
          <p:nvPr/>
        </p:nvSpPr>
        <p:spPr>
          <a:xfrm>
            <a:off x="571500" y="552450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**17,897** non-TLDR Markdown files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71500" y="571500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t>Largest Projects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571500" y="3238500"/>
          <a:ext cx="4572000" cy="1714500"/>
        </p:xfrm>
        <a:graphic>
          <a:graphicData uri="http://schemas.openxmlformats.org/drawingml/2006/table">
            <a:tbl>
              <a:tblPr firstRow="1"/>
              <a:tblGrid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b="1"/>
                        <a:t>Project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Total SLOC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Test SLOC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2,482,941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321,994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lib/std/core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1,382,111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502,883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compiler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1,316,555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377,364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1,060,797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1,060,797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539,594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228,685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71500" y="571500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t>Test Portfolio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571500" y="3238500"/>
          <a:ext cx="4572000" cy="1714500"/>
        </p:xfrm>
        <a:graphic>
          <a:graphicData uri="http://schemas.openxmlformats.org/drawingml/2006/table">
            <a:tbl>
              <a:tblPr firstRow="1"/>
              <a:tblGrid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b="1"/>
                        <a:t>Surface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Files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Runnable SLOC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13,479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1,523,586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140,868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631,087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Other SSpec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130,327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Markdown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761,179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Comment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71500" y="571500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t>Cross-cutting Focus</a:t>
            </a:r>
          </a:p>
        </p:txBody>
      </p:sp>
      <p:sp>
        <p:nvSpPr>
          <p:cNvPr id="3" name="bullet0_1"/>
          <p:cNvSpPr/>
          <p:nvPr/>
        </p:nvSpPr>
        <p:spPr>
          <a:xfrm>
            <a:off x="571500" y="209550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Firmware: **144,505 SLOC** across 933 files</a:t>
            </a:r>
          </a:p>
        </p:txBody>
      </p:sp>
      <p:sp>
        <p:nvSpPr>
          <p:cNvPr id="4" name="bullet0_2"/>
          <p:cNvSpPr/>
          <p:nvPr/>
        </p:nvSpPr>
        <p:spPr>
          <a:xfrm>
            <a:off x="571500" y="295275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RISC-V: **138,412 SLOC** across 1,290 files</a:t>
            </a:r>
          </a:p>
        </p:txBody>
      </p:sp>
      <p:sp>
        <p:nvSpPr>
          <p:cNvPr id="5" name="bullet0_3"/>
          <p:cNvSpPr/>
          <p:nvPr/>
        </p:nvSpPr>
        <p:spPr>
          <a:xfrm>
            <a:off x="571500" y="381000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Focus rows overlap project ownership and are non-additive.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71500" y="571500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t>Product Applications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571500" y="3238500"/>
          <a:ext cx="4572000" cy="1714500"/>
        </p:xfrm>
        <a:graphic>
          <a:graphicData uri="http://schemas.openxmlformats.org/drawingml/2006/table">
            <a:tbl>
              <a:tblPr firstRow="1"/>
              <a:tblGrid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b="1"/>
                        <a:t>Area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Files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Total SLOC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UI/rendering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293,796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Agent Caret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91,525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50,930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71500" y="571500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t>Servers and Agent Tooling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571500" y="3238500"/>
          <a:ext cx="4572000" cy="1714500"/>
        </p:xfrm>
        <a:graphic>
          <a:graphicData uri="http://schemas.openxmlformats.org/drawingml/2006/table">
            <a:tbl>
              <a:tblPr firstRow="1"/>
              <a:tblGrid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b="1"/>
                        <a:t>Area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Files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Total SLOC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DB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2,892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Web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2,078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Web 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178,495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Agents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2,148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49,383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 standalone="yes"?>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><a:xfrm><a:off x="0" y="0"/><a:ext cx="0" cy="0"/><a:chOff x="0" y="0"/><a:chExt cx="0" cy="0"/></a:xfrm></p:grpSpPr><p:sp><p:nvSpPr><p:cNvPr id="2" name="title"/><p:cNvSpPr/><p:nvPr/></p:nvSpPr><p:spPr><a:xfrm><a:off x="571500" y="571500"/><a:ext cx="8001000" cy="1143000"/></a:xfrm><a:prstGeom prst="rect"><a:avLst/></a:prstGeom></p:spPr><p:txBody><a:bodyPr/><a:lstStyle/><a:p><a:r><a:t>Quality Evidence</a:t></a:r></a:p></p:txBody></p:sp><p:sp><p:nvSpPr><p:cNvPr id="3" name="bullet0_1"/><p:cNvSpPr/><p:nvPr/></p:nvSpPr><p:spPr><a:xfrm><a:off x="571500" y="2095500"/><a:ext cx="8001000" cy="762000"/></a:xfrm><a:prstGeom prst="rect"><a:avLst/></a:prstGeom></p:spPr><p:txBody><a:bodyPr/><a:lstStyle/><a:p><a:pPr><a:buChar char="-"/></a:pPr><a:r><a:t>Coverage: unavailable  schema-only retained table</a:t></a:r></a:p></p:txBody></p:sp><p:sp><p:nvSpPr><p:cNvPr id="4" name="bullet0_2"/><p:cNvSpPr/><p:nvPr/></p:nvSpPr><p:spPr><a:xfrm><a:off x="571500" y="2952750"/><a:ext cx="8001000" cy="762000"/></a:xfrm><a:prstGeom prst="rect"><a:avLst/></a:prstGeom></p:spPr><p:txBody><a:bodyPr/><a:lstStyle/><a:p><a:pPr><a:buChar char="-"/></a:pPr><a:r><a:t>Duplication: unavailable  schema-only retained table</a:t></a:r></a:p></p:txBody></p:sp><p:sp><p:nvSpPr><p:cNvPr id="5" name="bullet0_3"/><p:cNvSpPr/><p:nvPr/></p:nvSpPr><p:spPr><a:xfrm><a:off x="571500" y="3810000"/><a:ext cx="8001000" cy="762000"/></a:xfrm><a:prstGeom prst="rect"><a:avLst/></a:prstGeom></p:spPr><p:txBody><a:bodyPr/><a:lstStyle/><a:p><a:pPr><a:buChar char="-"/></a:pPr><a:r><a:t>Coupling: unavailable  no current artifact</a:t></a:r></a:p></p:txBody></p:sp><p:sp><p:nvSpPr><p:cNvPr id="6" name="bullet0_4"/><p:cNvSpPr/><p:nvPr/></p:nvSpPr><p:spPr><a:xfrm><a:off x="571500" y="4667250"/><a:ext cx="8001000" cy="762000"/></a:xfrm><a:prstGeom prst="rect"><a:avLst/></a:prstGeom></p:spPr><p:txBody><a:bodyPr/><a:lstStyle/><a:p><a:pPr><a:buChar char="-"/></a:pPr><a:r><a:t>Cohesion: unavailable  no current LCOM artifact</a:t></a:r></a:p></p:txBody></p:sp></p:spTree></p:cSld><p:clrMapOvr><a:overrideClrMapping bg1="lt1" tx1="dk1" bg2="lt2" tx2="dk2" accent1="accent1" accent2="accent2" accent3="accent3" accent4="accent4" accent5="accent5" accent6="accent6" hlink="hlink" folHlink="folHlink"/></p:clrMapOvr></p:sld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71500" y="571500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t>Generation Status</a:t>
            </a:r>
          </a:p>
        </p:txBody>
      </p:sp>
      <p:sp>
        <p:nvSpPr>
          <p:cNvPr id="3" name="bullet0_1"/>
          <p:cNvSpPr/>
          <p:nvPr/>
        </p:nvSpPr>
        <p:spPr>
          <a:xfrm>
            <a:off x="571500" y="209550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System spec passes after the shared parser repair.</a:t>
            </a:r>
          </a:p>
        </p:txBody>
      </p:sp>
      <p:sp>
        <p:nvSpPr>
          <p:cNvPr id="4" name="bullet0_2"/>
          <p:cNvSpPr/>
          <p:nvPr/>
        </p:nvSpPr>
        <p:spPr>
          <a:xfrm>
            <a:off x="571500" y="295275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Markdown, TLDR, and native slide source generated.</a:t>
            </a:r>
          </a:p>
        </p:txBody>
      </p:sp>
      <p:sp>
        <p:nvSpPr>
          <p:cNvPr id="5" name="bullet0_3"/>
          <p:cNvSpPr/>
          <p:nvPr/>
        </p:nvSpPr>
        <p:spPr>
          <a:xfrm>
            <a:off x="571500" y="3810000"/>
            <a:ext cx="8001000" cy="762000"/>
          </a:xfrm>
          <a:prstGeom prst="rect">
            <a:avLst/>
          </a:prstGeom>
        </p:spPr>
        <p:txBody>
          <a:bodyPr/>
          <a:lstStyle/>
          <a:p>
            <a:pPr>
              <a:buChar char="-"/>
            </a:pPr>
            <a:r>
              <a:t>PPTX blocked pending an admitted current pure-Simple CLI.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impleOS Default">
  <a:themeElements>
    <a:clrScheme name="SimpleOS Defaul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8BC"/>
      </a:accent1>
      <a:accent2>
        <a:srgbClr val="B85D00"/>
      </a:accent2>
      <a:accent3>
        <a:srgbClr val="A5A5A5"/>
      </a:accent3>
      <a:accent4>
        <a:srgbClr val="FFC000"/>
      </a:accent4>
      <a:accent5>
        <a:srgbClr val="0070EB"/>
      </a:accent5>
      <a:accent6>
        <a:srgbClr val="006687"/>
      </a:accent6>
      <a:hlink>
        <a:srgbClr val="0563C1"/>
      </a:hlink>
      <a:folHlink>
        <a:srgbClr val="954F72"/>
      </a:folHlink>
    </a:clrScheme>
    <a:fontScheme name="SimpleOS Default">
      <a:majorFont>
        <a:latin typeface="Plus Jakarta Sans"/>
        <a:ea typeface=""/>
        <a:cs typeface=""/>
      </a:majorFont>
      <a:minorFont>
        <a:latin typeface="Inter"/>
        <a:ea typeface=""/>
        <a:cs typeface=""/>
      </a:minorFont>
    </a:fontScheme>
    <a:fmtScheme name="SimpleOS 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